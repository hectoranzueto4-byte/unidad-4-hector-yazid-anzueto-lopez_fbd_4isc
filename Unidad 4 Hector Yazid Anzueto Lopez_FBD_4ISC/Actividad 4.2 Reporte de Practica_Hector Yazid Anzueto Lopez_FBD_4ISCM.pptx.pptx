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63" r:id="rId3"/>
    <p:sldId id="264" r:id="rId4"/>
    <p:sldId id="257" r:id="rId5"/>
    <p:sldId id="267" r:id="rId6"/>
    <p:sldId id="258" r:id="rId7"/>
    <p:sldId id="260" r:id="rId8"/>
    <p:sldId id="261" r:id="rId9"/>
    <p:sldId id="262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ctoranzueto4-byte/Unidad-4-Hector-Yazid-Anzueto-Lopez_FBD_4IS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353154" y="1898363"/>
            <a:ext cx="49167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Instituto Tecnológico de Frontera Comalapa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Fundamentos de base de datos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</a:t>
            </a:r>
            <a:r>
              <a:rPr kumimoji="0" lang="es-MX" altLang="es-MX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4,2 reporte de ´practica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</a:t>
            </a:r>
            <a:r>
              <a:rPr kumimoji="0" lang="es-MX" altLang="es-MX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es-MX" altLang="es-MX" sz="160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</a:t>
            </a:r>
            <a:r>
              <a:rPr kumimoji="0" lang="es-MX" altLang="es-MX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2557938" y="290146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98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Introduccion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l presente reporte de práctica documenta el proceso de aplicar la Primera Forma Normal, 1FN, a una tabla de base de datos que presentaba problemas de atomicidad y grupos repetitivos. La práctica partió de una tabla </a:t>
            </a:r>
            <a:r>
              <a:rPr lang="es-MX" dirty="0" err="1"/>
              <a:t>desnormalizada</a:t>
            </a:r>
            <a:r>
              <a:rPr lang="es-MX" dirty="0"/>
              <a:t> obtenida de un caso real de registro de ventas, donde un mismo campo almacenaba múltiples valores como teléfonos o productos en una sola celda. </a:t>
            </a:r>
          </a:p>
        </p:txBody>
      </p:sp>
    </p:spTree>
    <p:extLst>
      <p:ext uri="{BB962C8B-B14F-4D97-AF65-F5344CB8AC3E}">
        <p14:creationId xmlns:p14="http://schemas.microsoft.com/office/powerpoint/2010/main" val="353659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Justificacion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La Primera Forma Normal es la base sin la cual no existe diseño relacional. Esta práctica se justifica </a:t>
            </a:r>
            <a:r>
              <a:rPr lang="es-MX" dirty="0" smtClean="0"/>
              <a:t>porque </a:t>
            </a:r>
            <a:r>
              <a:rPr lang="es-MX" dirty="0"/>
              <a:t>una tabla que viola 1FN genera anomalías inmediatas: no se puede buscar un solo teléfono si están todos en una celda, ni se puede contar cuántos productos vendió un cliente sin usar LIKE o funciones de texto costosas. </a:t>
            </a:r>
          </a:p>
        </p:txBody>
      </p:sp>
    </p:spTree>
    <p:extLst>
      <p:ext uri="{BB962C8B-B14F-4D97-AF65-F5344CB8AC3E}">
        <p14:creationId xmlns:p14="http://schemas.microsoft.com/office/powerpoint/2010/main" val="19373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7731" y="1582455"/>
            <a:ext cx="965187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Para normalizar una base de datos en </a:t>
            </a: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Primera Forma Normal (1FN)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en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PostgreSQL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debes asegurarte de tres reglas clave: </a:t>
            </a:r>
            <a:endParaRPr kumimoji="0" lang="es-MX" altLang="es-MX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Valores atómicos: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Cada columna debe contener un solo valor indivisible (sin listas ni arreglos separados por comas).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Sin grupos repetitivos: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No debe haber columnas múltiples con datos similares (ej. </a:t>
            </a:r>
            <a:r>
              <a:rPr kumimoji="0" lang="es-MX" altLang="es-MX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telefono1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es-MX" altLang="es-MX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telefono2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Clave Primaria: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Cada fila debe identificarse de forma única mediante una clave primaria (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Primary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Key). </a:t>
            </a:r>
            <a:endParaRPr kumimoji="0" lang="es-MX" altLang="es-MX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3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920740" y="514219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dirty="0"/>
              <a:t>CREATE TABLE estudiantes (    id SERIAL PRIMARY KEY,    nombre TEXT,    </a:t>
            </a:r>
            <a:r>
              <a:rPr lang="es-MX" dirty="0" err="1"/>
              <a:t>telefonos</a:t>
            </a:r>
            <a:r>
              <a:rPr lang="es-MX" dirty="0"/>
              <a:t> TEXT  -- '555-1234, 555-5678, 555-9999');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29761" y="975946"/>
            <a:ext cx="5521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Antes de iniciar debes de tener una tabla sin normalizar que contenga una casilla con dos elementos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6715565" y="948915"/>
            <a:ext cx="342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Para esto usaremos este código para crear dicha tabla de ejemplo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1899276"/>
            <a:ext cx="5196840" cy="292322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2122160"/>
            <a:ext cx="4800600" cy="270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3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08224" y="653980"/>
            <a:ext cx="436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/>
              <a:t>Crea una tabla nueva solo para ese dato </a:t>
            </a:r>
            <a:r>
              <a:rPr lang="es-MX" dirty="0" smtClean="0"/>
              <a:t>repetido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280"/>
            <a:ext cx="5060806" cy="2846704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811520" y="792480"/>
            <a:ext cx="469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1.1. abrir query tools  </a:t>
            </a:r>
            <a:endParaRPr lang="es-MX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050" y="1161812"/>
            <a:ext cx="3732652" cy="2099617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5551990" y="3470187"/>
            <a:ext cx="5243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Query se encuentra al usar botón secundario dentro de </a:t>
            </a:r>
            <a:r>
              <a:rPr lang="es-MX" dirty="0" err="1" smtClean="0"/>
              <a:t>tables</a:t>
            </a:r>
            <a:r>
              <a:rPr lang="es-MX" dirty="0" smtClean="0"/>
              <a:t> en la base de datos </a:t>
            </a:r>
            <a:endParaRPr lang="es-MX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/>
          <a:srcRect l="2682" t="56469" r="67145" b="15910"/>
          <a:stretch/>
        </p:blipFill>
        <p:spPr>
          <a:xfrm>
            <a:off x="5648730" y="4116518"/>
            <a:ext cx="5039750" cy="259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26916" y="926571"/>
            <a:ext cx="686378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 smtClean="0">
                <a:latin typeface="Arial" panose="020B0604020202020204" pitchFamily="34" charset="0"/>
              </a:rPr>
              <a:t>.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011" y="2402820"/>
            <a:ext cx="4299320" cy="241836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1" y="2239199"/>
            <a:ext cx="4213175" cy="236991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81651" y="418739"/>
            <a:ext cx="9360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2. Crea una tabla nueva solo para ese dato repetido </a:t>
            </a:r>
          </a:p>
        </p:txBody>
      </p:sp>
      <p:sp>
        <p:nvSpPr>
          <p:cNvPr id="6" name="Rectángulo 5"/>
          <p:cNvSpPr/>
          <p:nvPr/>
        </p:nvSpPr>
        <p:spPr>
          <a:xfrm>
            <a:off x="3898611" y="4925289"/>
            <a:ext cx="8566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/>
              <a:t>CREATE TABLE </a:t>
            </a:r>
            <a:r>
              <a:rPr lang="es-MX" sz="1200" dirty="0" err="1"/>
              <a:t>telefonos_estudiante</a:t>
            </a:r>
            <a:r>
              <a:rPr lang="es-MX" sz="1200" dirty="0"/>
              <a:t> (  </a:t>
            </a:r>
            <a:endParaRPr lang="es-MX" sz="1200" dirty="0" smtClean="0"/>
          </a:p>
          <a:p>
            <a:r>
              <a:rPr lang="es-MX" sz="1200" dirty="0" smtClean="0"/>
              <a:t> </a:t>
            </a:r>
            <a:r>
              <a:rPr lang="es-MX" sz="1200" dirty="0" err="1"/>
              <a:t>id_telefono</a:t>
            </a:r>
            <a:r>
              <a:rPr lang="es-MX" sz="1200" dirty="0"/>
              <a:t> SERIAL PRIMARY KEY</a:t>
            </a:r>
            <a:r>
              <a:rPr lang="es-MX" sz="1200" dirty="0" smtClean="0"/>
              <a:t>,</a:t>
            </a:r>
          </a:p>
          <a:p>
            <a:r>
              <a:rPr lang="es-MX" sz="1200" dirty="0" smtClean="0"/>
              <a:t> </a:t>
            </a:r>
            <a:r>
              <a:rPr lang="es-MX" sz="1200" dirty="0" err="1"/>
              <a:t>id_estudiante</a:t>
            </a:r>
            <a:r>
              <a:rPr lang="es-MX" sz="1200" dirty="0"/>
              <a:t> INT NOT NULL REFERENCES estudiantes(id) ON DELETE CASCADE</a:t>
            </a:r>
            <a:r>
              <a:rPr lang="es-MX" sz="1200" dirty="0" smtClean="0"/>
              <a:t>,</a:t>
            </a:r>
          </a:p>
          <a:p>
            <a:r>
              <a:rPr lang="es-MX" sz="1200" dirty="0" smtClean="0"/>
              <a:t>   </a:t>
            </a:r>
            <a:r>
              <a:rPr lang="es-MX" sz="1200" dirty="0" err="1"/>
              <a:t>telefono</a:t>
            </a:r>
            <a:r>
              <a:rPr lang="es-MX" sz="1200" dirty="0"/>
              <a:t> TEXT NOT </a:t>
            </a:r>
            <a:r>
              <a:rPr lang="es-MX" sz="1200" dirty="0" smtClean="0"/>
              <a:t>NULL</a:t>
            </a:r>
          </a:p>
          <a:p>
            <a:r>
              <a:rPr lang="es-MX" sz="1200" dirty="0" smtClean="0"/>
              <a:t>);</a:t>
            </a:r>
            <a:endParaRPr lang="es-MX" sz="1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281651" y="999690"/>
            <a:ext cx="4910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nueva tabla tendrá: 1. Clave primaria propia, 2. Clave foránea al id original, 3. El valor atómico.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764064" y="1480029"/>
            <a:ext cx="4653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Usar un código como el siguiente para crear la tabla nueva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5055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-91440" y="251685"/>
            <a:ext cx="7025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 3.Migra </a:t>
            </a:r>
            <a:r>
              <a:rPr lang="es-MX" dirty="0"/>
              <a:t>los datos  Si ya tenías datos con comas, toca separarlos. Para </a:t>
            </a:r>
            <a:r>
              <a:rPr lang="es-MX" dirty="0" err="1"/>
              <a:t>PostgreSQL</a:t>
            </a:r>
            <a:r>
              <a:rPr lang="es-MX" dirty="0"/>
              <a:t> puedes usar </a:t>
            </a:r>
            <a:r>
              <a:rPr lang="es-MX" dirty="0" err="1"/>
              <a:t>string_to_array</a:t>
            </a:r>
            <a:r>
              <a:rPr lang="es-MX" dirty="0"/>
              <a:t> + </a:t>
            </a:r>
            <a:r>
              <a:rPr lang="es-MX" dirty="0" err="1"/>
              <a:t>unnest</a:t>
            </a:r>
            <a:r>
              <a:rPr lang="es-MX" dirty="0"/>
              <a:t>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5710"/>
            <a:ext cx="5533170" cy="311240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60" y="2077419"/>
            <a:ext cx="5533170" cy="311240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14917" y="5332243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1200" dirty="0"/>
              <a:t>INSERT INTO </a:t>
            </a:r>
            <a:r>
              <a:rPr lang="es-MX" sz="1200" dirty="0" err="1"/>
              <a:t>telefonos_estudiante</a:t>
            </a:r>
            <a:r>
              <a:rPr lang="es-MX" sz="1200" dirty="0"/>
              <a:t> </a:t>
            </a:r>
            <a:r>
              <a:rPr lang="es-MX" sz="1200" dirty="0" smtClean="0"/>
              <a:t>(</a:t>
            </a:r>
          </a:p>
          <a:p>
            <a:r>
              <a:rPr lang="es-MX" sz="1200" dirty="0" err="1" smtClean="0"/>
              <a:t>id_estudiante</a:t>
            </a:r>
            <a:r>
              <a:rPr lang="es-MX" sz="1200" dirty="0"/>
              <a:t>, </a:t>
            </a:r>
            <a:r>
              <a:rPr lang="es-MX" sz="1200" dirty="0" err="1"/>
              <a:t>telefono</a:t>
            </a:r>
            <a:r>
              <a:rPr lang="es-MX" sz="1200" dirty="0"/>
              <a:t>)SELECT     id,  </a:t>
            </a:r>
            <a:endParaRPr lang="es-MX" sz="1200" dirty="0" smtClean="0"/>
          </a:p>
          <a:p>
            <a:r>
              <a:rPr lang="es-MX" sz="1200" dirty="0" smtClean="0"/>
              <a:t>  </a:t>
            </a:r>
            <a:r>
              <a:rPr lang="es-MX" sz="1200" dirty="0" err="1"/>
              <a:t>unnest</a:t>
            </a:r>
            <a:r>
              <a:rPr lang="es-MX" sz="1200" dirty="0"/>
              <a:t>(</a:t>
            </a:r>
            <a:r>
              <a:rPr lang="es-MX" sz="1200" dirty="0" err="1"/>
              <a:t>string_to_array</a:t>
            </a:r>
            <a:r>
              <a:rPr lang="es-MX" sz="1200" dirty="0"/>
              <a:t>(</a:t>
            </a:r>
            <a:r>
              <a:rPr lang="es-MX" sz="1200" dirty="0" err="1"/>
              <a:t>telefonos</a:t>
            </a:r>
            <a:r>
              <a:rPr lang="es-MX" sz="1200" dirty="0"/>
              <a:t>, ', </a:t>
            </a:r>
            <a:r>
              <a:rPr lang="es-MX" sz="1200" dirty="0" smtClean="0"/>
              <a:t>'))</a:t>
            </a:r>
          </a:p>
          <a:p>
            <a:r>
              <a:rPr lang="es-MX" sz="1200" dirty="0" smtClean="0"/>
              <a:t>FROM estudiantes</a:t>
            </a:r>
          </a:p>
          <a:p>
            <a:r>
              <a:rPr lang="es-MX" sz="1200" dirty="0" smtClean="0"/>
              <a:t>WHERE </a:t>
            </a:r>
            <a:r>
              <a:rPr lang="es-MX" sz="1200" dirty="0" err="1"/>
              <a:t>telefonos</a:t>
            </a:r>
            <a:r>
              <a:rPr lang="es-MX" sz="1200" dirty="0"/>
              <a:t> IS NOT NULL</a:t>
            </a:r>
            <a:r>
              <a:rPr lang="es-MX" sz="1200" dirty="0" smtClean="0"/>
              <a:t>;</a:t>
            </a:r>
          </a:p>
          <a:p>
            <a:r>
              <a:rPr lang="es-MX" sz="1200" dirty="0" smtClean="0"/>
              <a:t>Esto </a:t>
            </a:r>
            <a:r>
              <a:rPr lang="es-MX" sz="1200" dirty="0"/>
              <a:t>convierte '555-1234, 555-5678' en 2 filas separadas</a:t>
            </a:r>
            <a:r>
              <a:rPr lang="es-MX" sz="1400" dirty="0"/>
              <a:t>.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94640" y="1186963"/>
            <a:ext cx="545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Usar un código como el siguiente dentro de query tools para poder mover los datos a la tabla nueva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362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25033" y="304762"/>
            <a:ext cx="7789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 smtClean="0"/>
              <a:t>4.Elimina </a:t>
            </a:r>
            <a:r>
              <a:rPr lang="es-MX" dirty="0"/>
              <a:t>la columna que rompe 1FN  Una vez migrado todo Resultado final con 1FN:</a:t>
            </a:r>
            <a:endParaRPr lang="es-MX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0" y="2563794"/>
            <a:ext cx="5881547" cy="330837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10910" y="1295778"/>
            <a:ext cx="6516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Una vez migrado </a:t>
            </a:r>
            <a:r>
              <a:rPr lang="es-MX" dirty="0" smtClean="0"/>
              <a:t>todo utilizar el siguiente código en query tools para eliminar las columnas de la tabla sin normalizar</a:t>
            </a:r>
          </a:p>
          <a:p>
            <a:r>
              <a:rPr lang="es-MX" dirty="0" smtClean="0"/>
              <a:t>ALTER </a:t>
            </a:r>
            <a:r>
              <a:rPr lang="es-MX" dirty="0"/>
              <a:t>TABLE estudiantes DROP COLUMN </a:t>
            </a:r>
            <a:r>
              <a:rPr lang="es-MX" dirty="0" err="1" smtClean="0"/>
              <a:t>telefonos</a:t>
            </a:r>
            <a:r>
              <a:rPr lang="es-MX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35812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Conclusión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l finalizar esta práctica se logró transformar una tabla </a:t>
            </a:r>
            <a:r>
              <a:rPr lang="es-MX" dirty="0" err="1"/>
              <a:t>desnormalizada</a:t>
            </a:r>
            <a:r>
              <a:rPr lang="es-MX" dirty="0"/>
              <a:t> en una tabla que cumple completamente con la Primera Forma Normal. Se eliminaron los campos </a:t>
            </a:r>
            <a:r>
              <a:rPr lang="es-MX" dirty="0" err="1"/>
              <a:t>multivaluados</a:t>
            </a:r>
            <a:r>
              <a:rPr lang="es-MX" dirty="0"/>
              <a:t> creando nuevas tablas y relaciones, se garantizó que cada columna almacenara un solo dato y se estableció una llave primaria compuesta para mantener la unicidad de los registros. </a:t>
            </a:r>
          </a:p>
        </p:txBody>
      </p:sp>
    </p:spTree>
    <p:extLst>
      <p:ext uri="{BB962C8B-B14F-4D97-AF65-F5344CB8AC3E}">
        <p14:creationId xmlns:p14="http://schemas.microsoft.com/office/powerpoint/2010/main" val="392759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Enlace de </a:t>
            </a:r>
            <a:r>
              <a:rPr lang="es-MX" dirty="0" err="1" smtClean="0"/>
              <a:t>git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hlinkClick r:id="rId2"/>
              </a:rPr>
              <a:t>https</a:t>
            </a:r>
            <a:r>
              <a:rPr lang="es-MX">
                <a:hlinkClick r:id="rId2"/>
              </a:rPr>
              <a:t>://</a:t>
            </a:r>
            <a:r>
              <a:rPr lang="es-MX" smtClean="0">
                <a:hlinkClick r:id="rId2"/>
              </a:rPr>
              <a:t>github.com/hectoranzueto4-byte/Unidad-4-Hector-Yazid-Anzueto-Lopez_FBD_4ISC</a:t>
            </a:r>
            <a:r>
              <a:rPr lang="es-MX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15376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237</TotalTime>
  <Words>612</Words>
  <Application>Microsoft Office PowerPoint</Application>
  <PresentationFormat>Panorámica</PresentationFormat>
  <Paragraphs>56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Courier New</vt:lpstr>
      <vt:lpstr>Google Sans</vt:lpstr>
      <vt:lpstr>Times New Roman</vt:lpstr>
      <vt:lpstr>Trebuchet MS</vt:lpstr>
      <vt:lpstr>Wingdings 3</vt:lpstr>
      <vt:lpstr>Faceta</vt:lpstr>
      <vt:lpstr>Presentación de PowerPoint</vt:lpstr>
      <vt:lpstr>Introduccion </vt:lpstr>
      <vt:lpstr>Justificacion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Enlace de git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13</cp:revision>
  <dcterms:created xsi:type="dcterms:W3CDTF">2026-06-01T01:41:27Z</dcterms:created>
  <dcterms:modified xsi:type="dcterms:W3CDTF">2026-06-08T02:24:36Z</dcterms:modified>
</cp:coreProperties>
</file>